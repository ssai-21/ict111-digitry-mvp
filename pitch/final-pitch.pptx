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RIC's timetable is out of date the moment it's printed. We built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two-part opener: what's broken, and who it breaks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static PDF timetable is the root problem. Cancellations and room changes spread informally, if at all. Cite the Lab 03 discovery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groups, one shared problem, ordered by who feels 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part: proof the problem is real, and the promise we're making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separate testing rounds, each building on the last. Emphasize this isn't a one-off survey — it's a validation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projected numbers — they're measured results from Lab 08, re-verified after the Lab 13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close to verbatim — it's the core pitch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part: the working product, and how it creates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working prototype, not a mockup — validated with real testers at every stage. Drop in screenshots of the student and admin views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revenue play at MVP stage — it's an efficiency play for an internal university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part: how we reach students, and what's left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Targeted rollout through channels RIC students already use, not a broad public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these are known, documented gaps at MVP stage, not oversights.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point to the repo for the full documentation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sai-21/ICT111-DigiTry-MV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ICT111 · FINAL PITCH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175843"/>
            <a:ext cx="1760220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78"/>
              </a:lnSpc>
              <a:buNone/>
            </a:pPr>
            <a:r>
              <a:rPr lang="en-US" sz="8100" b="1" spc="-162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SmartTimetable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4688384"/>
            <a:ext cx="8904482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7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live, self-correcting class schedule for RIC — students always know whether their next class is actually happening.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6509296"/>
            <a:ext cx="850404" cy="5637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6604546"/>
            <a:ext cx="583704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36" kern="0" dirty="0">
                <a:solidFill>
                  <a:srgbClr val="7C140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MVP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26754" y="6509296"/>
            <a:ext cx="2683818" cy="56376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7729" y="6614071"/>
            <a:ext cx="2402382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36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testers, real fixes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8980289"/>
            <a:ext cx="143787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Team Digitry.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93057" y="8980289"/>
            <a:ext cx="106813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79378"/>
            <a:ext cx="3042731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0" b="1" spc="-3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143000" y="5317778"/>
            <a:ext cx="851935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problem, and who feels it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6306443"/>
            <a:ext cx="9309175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70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schedule nobody trusts, and three groups stuck compensating for it.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PROBLEM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2200424"/>
            <a:ext cx="381000" cy="3810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725" y="2286149"/>
            <a:ext cx="209550" cy="209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8300" y="2261443"/>
            <a:ext cx="45206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CONFIRMED IN LAB 03 DISCOVERY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2924324"/>
            <a:ext cx="17602200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75"/>
              </a:lnSpc>
              <a:buNone/>
            </a:pPr>
            <a:r>
              <a:rPr lang="en-US" sz="18750" b="1" spc="-375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76%</a:t>
            </a:r>
            <a:endParaRPr lang="en-US" sz="18750" dirty="0"/>
          </a:p>
        </p:txBody>
      </p:sp>
      <p:sp>
        <p:nvSpPr>
          <p:cNvPr id="7" name="Text 4"/>
          <p:cNvSpPr/>
          <p:nvPr/>
        </p:nvSpPr>
        <p:spPr>
          <a:xfrm>
            <a:off x="1143000" y="5648474"/>
            <a:ext cx="10523409" cy="2437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 21 RIC students, lecturers, and staff surveyed rated a real-time timetable alternative 7/10 or higher in potential value — the static PDF doesn't update when a class is cancelled, moved, or double-booked, and changes spread informally through group chats, if at all.</a:t>
            </a:r>
            <a:endParaRPr lang="en-US" sz="2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0289"/>
            <a:ext cx="4209455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TARGET USER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groups feel this daily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141315"/>
            <a:ext cx="5029200" cy="2902744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7800" y="34461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0675" y="3588990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7800" y="4189065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Primary — Students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47800" y="4703415"/>
            <a:ext cx="4552188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Feel the problem most often and most directly — turning up to a class that isn't happening.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6629400" y="3141315"/>
            <a:ext cx="5029200" cy="2902744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34200" y="34461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7075" y="3588990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34200" y="4189065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Secondary — Lecturers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6934200" y="4703415"/>
            <a:ext cx="4552188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Need one channel to publish a change instead of repeating it across several group chats.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12115800" y="3141315"/>
            <a:ext cx="5029200" cy="2902744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420600" y="34461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63475" y="3588990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420600" y="4189065"/>
            <a:ext cx="4861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Tertiary — Admin &amp; Staff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12420600" y="4703415"/>
            <a:ext cx="4552188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Review reports and keep the master schedule accurate over time.</a:t>
            </a:r>
            <a:endParaRPr lang="en-US" sz="1875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8980289"/>
            <a:ext cx="4205288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79378"/>
            <a:ext cx="3042731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0" b="1" spc="-3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143000" y="5317778"/>
            <a:ext cx="776759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Evidence, and the promise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6306443"/>
            <a:ext cx="9309175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70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rounds of testing, and the single sentence the product has to deliver on.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Validated across three testing rounds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577084"/>
            <a:ext cx="201840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141315"/>
            <a:ext cx="1942207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b="1" spc="150" kern="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161407" y="3577084"/>
            <a:ext cx="5228034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37607" y="3141315"/>
            <a:ext cx="5232475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b="1" spc="150" kern="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METHOD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389441" y="3577084"/>
            <a:ext cx="875555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465641" y="3141315"/>
            <a:ext cx="8865825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b="1" spc="150" kern="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151858"/>
            <a:ext cx="20184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672334"/>
            <a:ext cx="1942207" cy="441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Lab 03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3161407" y="4151858"/>
            <a:ext cx="52280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37607" y="3672334"/>
            <a:ext cx="5232475" cy="441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21-response survey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389441" y="4151858"/>
            <a:ext cx="8755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65641" y="3672334"/>
            <a:ext cx="8865825" cy="441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Confirmed the problem is real, not assumed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43000" y="4712345"/>
            <a:ext cx="20184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4237583"/>
            <a:ext cx="1942207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Lab 08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3161407" y="4712345"/>
            <a:ext cx="52280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37607" y="4237583"/>
            <a:ext cx="523247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 testers, task-based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389441" y="4712345"/>
            <a:ext cx="8755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65641" y="4237583"/>
            <a:ext cx="886582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95% task success, 4.5/5 usefulness rating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143000" y="5272832"/>
            <a:ext cx="20184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4798070"/>
            <a:ext cx="1942207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Lab 13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3161407" y="5272832"/>
            <a:ext cx="5228034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37607" y="4798070"/>
            <a:ext cx="523247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Real-device mobile retest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389441" y="5272832"/>
            <a:ext cx="875555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65641" y="4798070"/>
            <a:ext cx="886582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Critical usability issues found and fixed</a:t>
            </a:r>
            <a:endParaRPr lang="en-US" sz="2025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0289"/>
            <a:ext cx="4209455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VALIDATION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Measured, not projected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3217515"/>
            <a:ext cx="35780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5"/>
              </a:lnSpc>
              <a:buNone/>
            </a:pPr>
            <a:r>
              <a:rPr lang="en-US" sz="81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95%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1143000" y="4379565"/>
            <a:ext cx="357806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Task completion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4814888" y="3217515"/>
            <a:ext cx="19050" cy="180498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53038" y="3217515"/>
            <a:ext cx="35780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5"/>
              </a:lnSpc>
              <a:buNone/>
            </a:pPr>
            <a:r>
              <a:rPr lang="en-US" sz="81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4.5/5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5253038" y="4379565"/>
            <a:ext cx="357806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Usefulness rating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8924925" y="3217515"/>
            <a:ext cx="19050" cy="180498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63075" y="3217515"/>
            <a:ext cx="35780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5"/>
              </a:lnSpc>
              <a:buNone/>
            </a:pPr>
            <a:r>
              <a:rPr lang="en-US" sz="81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95%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363075" y="4379565"/>
            <a:ext cx="357806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Would use again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034963" y="3217515"/>
            <a:ext cx="19050" cy="180498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473113" y="3217515"/>
            <a:ext cx="35780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25"/>
              </a:lnSpc>
              <a:buNone/>
            </a:pPr>
            <a:r>
              <a:rPr lang="en-US" sz="81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2/2</a:t>
            </a:r>
            <a:endParaRPr lang="en-US" sz="8100" dirty="0"/>
          </a:p>
        </p:txBody>
      </p:sp>
      <p:sp>
        <p:nvSpPr>
          <p:cNvPr id="14" name="Text 12"/>
          <p:cNvSpPr/>
          <p:nvPr/>
        </p:nvSpPr>
        <p:spPr>
          <a:xfrm>
            <a:off x="13473113" y="4379565"/>
            <a:ext cx="3350371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Critical issues fixed &amp; re-verified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5327303"/>
            <a:ext cx="11805245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 form validation visibility and admin edit field order were fixed and re-verified before this submission — not left as future work.</a:t>
            </a:r>
            <a:endParaRPr lang="en-US" sz="187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0289"/>
            <a:ext cx="4204841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VALUE PROPOSITION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Always know if your next class is actually happening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3065115"/>
            <a:ext cx="12547183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RIC students who experience unreliable, outdated class schedule information, SmartTimetable gives every class a live status label and a one-tap way to report a mismatch — no personal information required.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0289"/>
            <a:ext cx="4209604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45185"/>
            <a:ext cx="3042731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0" b="1" spc="-3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143000" y="5583585"/>
            <a:ext cx="7993678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product, and the model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6572250"/>
            <a:ext cx="872743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70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we actually built, and why it's worth building on.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PROTOTYPE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working app, not a mockup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141315"/>
            <a:ext cx="7810500" cy="3740795"/>
          </a:xfrm>
          <a:prstGeom prst="rect">
            <a:avLst/>
          </a:prstGeom>
          <a:solidFill>
            <a:srgbClr val="EAE9E9"/>
          </a:solidFill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34" r="-134" t="0" b="0"/>
          <a:stretch/>
        </p:blipFill>
        <p:spPr>
          <a:xfrm>
            <a:off x="1143000" y="3141315"/>
            <a:ext cx="7810500" cy="3740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6996410"/>
            <a:ext cx="85915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Student view</a:t>
            </a:r>
            <a:endParaRPr lang="en-US" sz="1875" dirty="0"/>
          </a:p>
        </p:txBody>
      </p:sp>
      <p:sp>
        <p:nvSpPr>
          <p:cNvPr id="7" name="Shape 4"/>
          <p:cNvSpPr/>
          <p:nvPr/>
        </p:nvSpPr>
        <p:spPr>
          <a:xfrm>
            <a:off x="9334500" y="3141315"/>
            <a:ext cx="7810500" cy="3740795"/>
          </a:xfrm>
          <a:prstGeom prst="rect">
            <a:avLst/>
          </a:prstGeom>
          <a:solidFill>
            <a:srgbClr val="EAE9E9"/>
          </a:solidFill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79" b="-79"/>
          <a:stretch/>
        </p:blipFill>
        <p:spPr>
          <a:xfrm>
            <a:off x="9334500" y="3141315"/>
            <a:ext cx="7810500" cy="37407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34500" y="6996410"/>
            <a:ext cx="85915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Admin view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143000" y="7632204"/>
            <a:ext cx="419100" cy="4191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7775" y="7736979"/>
            <a:ext cx="209550" cy="2095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14500" y="7686973"/>
            <a:ext cx="318008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status in seconds</a:t>
            </a:r>
            <a:endParaRPr lang="en-US" sz="1875" dirty="0"/>
          </a:p>
        </p:txBody>
      </p:sp>
      <p:sp>
        <p:nvSpPr>
          <p:cNvPr id="13" name="Shape 8"/>
          <p:cNvSpPr/>
          <p:nvPr/>
        </p:nvSpPr>
        <p:spPr>
          <a:xfrm>
            <a:off x="6603950" y="7632204"/>
            <a:ext cx="419100" cy="4191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8725" y="7736979"/>
            <a:ext cx="209550" cy="2095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75450" y="7686973"/>
            <a:ext cx="32643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One-tap mismatch report</a:t>
            </a:r>
            <a:endParaRPr lang="en-US" sz="1875" dirty="0"/>
          </a:p>
        </p:txBody>
      </p:sp>
      <p:sp>
        <p:nvSpPr>
          <p:cNvPr id="16" name="Shape 10"/>
          <p:cNvSpPr/>
          <p:nvPr/>
        </p:nvSpPr>
        <p:spPr>
          <a:xfrm>
            <a:off x="12065050" y="7632204"/>
            <a:ext cx="419100" cy="4191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69825" y="7736979"/>
            <a:ext cx="209550" cy="2095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36550" y="7686973"/>
            <a:ext cx="28698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Live admin dashboard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self-correcting information loop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141315"/>
            <a:ext cx="75819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69915"/>
            <a:ext cx="83400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Customer Segments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3804196"/>
            <a:ext cx="83400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RIC students, lecturers, and admin/staff.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563100" y="3141315"/>
            <a:ext cx="75819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63100" y="3369915"/>
            <a:ext cx="83400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Value Proposition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63100" y="3804196"/>
            <a:ext cx="780935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live schedule plus a report loop that replaces a low-trust source with a self-correcting 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890046"/>
            <a:ext cx="75819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118646"/>
            <a:ext cx="83400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Value Captured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5552926"/>
            <a:ext cx="780935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Operational efficiency — fewer wasted trips, fewer repeat announcements — not direct revenue, appropriate for an internal university tool at this MVP stage.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63100" y="4890046"/>
            <a:ext cx="75819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0" y="5118646"/>
            <a:ext cx="83400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it compounds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63100" y="5552926"/>
            <a:ext cx="780935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30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report loop means the system gets more accurate the more it's used.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6857851"/>
            <a:ext cx="1260754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docs/business-model-canvas.md</a:t>
            </a:r>
            <a:endParaRPr lang="en-US" sz="187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0289"/>
            <a:ext cx="4316611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45185"/>
            <a:ext cx="3045187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759"/>
              </a:lnSpc>
              <a:buNone/>
            </a:pPr>
            <a:r>
              <a:rPr lang="en-US" sz="18000" b="1" spc="-360" kern="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143000" y="5583585"/>
            <a:ext cx="10458837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Reaching students, and what's next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6572250"/>
            <a:ext cx="8266911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2700" dirty="0">
                <a:solidFill>
                  <a:srgbClr val="F3F2F2">
                    <a:alpha val="8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rollout plan, and the gaps we're upfront about.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GO-TO-MARKET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Reach students where they already are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141315"/>
            <a:ext cx="3657600" cy="2435423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9700" y="34080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2575" y="3550890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9700" y="4150965"/>
            <a:ext cx="34366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Class group chats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409700" y="4619476"/>
            <a:ext cx="321792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changes already spread informally.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5257800" y="3141315"/>
            <a:ext cx="3657600" cy="2435423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24500" y="34080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7375" y="3550890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4500" y="4150965"/>
            <a:ext cx="34366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Campus QR posters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524500" y="4619476"/>
            <a:ext cx="321792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Placed at high-traffic buildings.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9372600" y="3141315"/>
            <a:ext cx="3657600" cy="2435423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39300" y="34080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2175" y="3550890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39300" y="4150965"/>
            <a:ext cx="34366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Instagram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639300" y="4619476"/>
            <a:ext cx="321792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Wider awareness beyond direct classes.</a:t>
            </a:r>
            <a:endParaRPr lang="en-US" sz="1875" dirty="0"/>
          </a:p>
        </p:txBody>
      </p:sp>
      <p:sp>
        <p:nvSpPr>
          <p:cNvPr id="19" name="Shape 14"/>
          <p:cNvSpPr/>
          <p:nvPr/>
        </p:nvSpPr>
        <p:spPr>
          <a:xfrm>
            <a:off x="13487400" y="3141315"/>
            <a:ext cx="3657600" cy="2435423"/>
          </a:xfrm>
          <a:prstGeom prst="rect">
            <a:avLst/>
          </a:prstGeom>
          <a:solidFill>
            <a:srgbClr val="EAE9E9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3754100" y="3408015"/>
            <a:ext cx="571500" cy="571500"/>
          </a:xfrm>
          <a:prstGeom prst="rect">
            <a:avLst/>
          </a:prstGeom>
          <a:solidFill>
            <a:srgbClr val="FFF2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6975" y="3550890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54100" y="4150965"/>
            <a:ext cx="34366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RIC student Line group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13754100" y="4619476"/>
            <a:ext cx="321792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59"/>
              </a:lnSpc>
              <a:buNone/>
            </a:pPr>
            <a:r>
              <a:rPr lang="en-US" sz="1875" dirty="0">
                <a:solidFill>
                  <a:srgbClr val="201E1D">
                    <a:alpha val="8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Targeted rollout, not a public launch.</a:t>
            </a:r>
            <a:endParaRPr lang="en-US" sz="1875" dirty="0"/>
          </a:p>
        </p:txBody>
      </p:sp>
      <p:sp>
        <p:nvSpPr>
          <p:cNvPr id="24" name="Text 18"/>
          <p:cNvSpPr/>
          <p:nvPr/>
        </p:nvSpPr>
        <p:spPr>
          <a:xfrm>
            <a:off x="1143000" y="5881539"/>
            <a:ext cx="1260754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519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docs/go-to-market-plan.md </a:t>
            </a:r>
            <a:pPr algn="l" indent="0" marL="0">
              <a:lnSpc>
                <a:spcPct val="143519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</a:t>
            </a:r>
            <a:pPr algn="l" indent="0" marL="0">
              <a:lnSpc>
                <a:spcPct val="143519"/>
              </a:lnSpc>
              <a:buNone/>
            </a:pPr>
            <a:r>
              <a:rPr lang="en-US" sz="1875" dirty="0">
                <a:solidFill>
                  <a:srgbClr val="211D1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docs/acquisition-metrics.md</a:t>
            </a:r>
            <a:endParaRPr lang="en-US" sz="1875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8980289"/>
            <a:ext cx="4328517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 · NEXT IMPROVEMENT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0250"/>
            <a:ext cx="176022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70"/>
              </a:lnSpc>
              <a:buNone/>
            </a:pPr>
            <a:r>
              <a:rPr lang="en-US" sz="4350" b="1" spc="-65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What's next after this MVP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42975" y="3065115"/>
            <a:ext cx="12658725" cy="2324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real backend/database, replacing today's deliberate localStorage simulation</a:t>
            </a:r>
            <a:endParaRPr lang="en-US" sz="2250" dirty="0"/>
          </a:p>
          <a:p>
            <a:pPr algn="l" indent="0" marL="0">
              <a:lnSpc>
                <a:spcPct val="1265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Real admin authentication, beyond the current basic credential check</a:t>
            </a:r>
            <a:endParaRPr lang="en-US" sz="2250" dirty="0"/>
          </a:p>
          <a:p>
            <a:pPr algn="l" indent="0" marL="0">
              <a:lnSpc>
                <a:spcPct val="1265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remaining 8 of 12 defined startup metrics, not yet visualized on the dashboard</a:t>
            </a:r>
            <a:endParaRPr lang="en-US" sz="2250" dirty="0"/>
          </a:p>
          <a:p>
            <a:pPr algn="l" indent="0" marL="0">
              <a:lnSpc>
                <a:spcPct val="12656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real channel launch, to replace the current seeded acquisition data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0289"/>
            <a:ext cx="4324350" cy="3542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ICT111 · FINAL PITCH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888135"/>
            <a:ext cx="1760220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78"/>
              </a:lnSpc>
              <a:buNone/>
            </a:pPr>
            <a:r>
              <a:rPr lang="en-US" sz="8100" b="1" spc="-162" kern="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Thank you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5400675"/>
            <a:ext cx="890448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27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SmartTimetable — a live, self-correcting timetable for RIC.</a:t>
            </a:r>
            <a:endParaRPr lang="en-US" sz="27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143000" y="8980289"/>
            <a:ext cx="455656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u="sng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github.com/Ssai-21/ICT111-DigiTry-MVP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2026-07-31T16:40:38Z</dcterms:created>
  <dcterms:modified xsi:type="dcterms:W3CDTF">2026-07-31T16:40:38Z</dcterms:modified>
</cp:coreProperties>
</file>